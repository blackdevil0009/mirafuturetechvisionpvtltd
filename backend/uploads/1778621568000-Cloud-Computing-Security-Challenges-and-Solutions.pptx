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Source Sans 3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26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4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2692718"/>
            <a:ext cx="7416403" cy="21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Cloud Computing Security Challenges and Solutions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63798" y="5166717"/>
            <a:ext cx="3488283" cy="1106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</a:rPr>
              <a:t>Presented By: Sana Khatun</a:t>
            </a:r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</a:rPr>
              <a:t>Ankita Yadav</a:t>
            </a:r>
          </a:p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</a:rPr>
              <a:t>Prachi Pal</a:t>
            </a:r>
          </a:p>
          <a:p>
            <a:pPr marL="0" indent="0" algn="l">
              <a:lnSpc>
                <a:spcPts val="2900"/>
              </a:lnSpc>
              <a:buNone/>
            </a:pP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8419" y="596503"/>
            <a:ext cx="1274445" cy="329922"/>
          </a:xfrm>
          <a:prstGeom prst="roundRect">
            <a:avLst>
              <a:gd name="adj" fmla="val 7154"/>
            </a:avLst>
          </a:prstGeom>
          <a:solidFill>
            <a:srgbClr val="262626"/>
          </a:solidFill>
          <a:ln/>
        </p:spPr>
      </p:sp>
      <p:sp>
        <p:nvSpPr>
          <p:cNvPr id="4" name="Text 1"/>
          <p:cNvSpPr/>
          <p:nvPr/>
        </p:nvSpPr>
        <p:spPr>
          <a:xfrm>
            <a:off x="806410" y="655439"/>
            <a:ext cx="1038463" cy="212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88419" y="989052"/>
            <a:ext cx="6346865" cy="558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What Is Cloud Computing?</a:t>
            </a:r>
            <a:endParaRPr lang="en-US" sz="3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8419" y="1782842"/>
            <a:ext cx="393383" cy="39338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8419" y="2372082"/>
            <a:ext cx="2235160" cy="279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Definition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688419" y="2745343"/>
            <a:ext cx="7767161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On-demand delivery of compute, storage, and services over the internet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8419" y="3323749"/>
            <a:ext cx="393383" cy="39338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8419" y="3912989"/>
            <a:ext cx="2235160" cy="279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Scalability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688419" y="4286250"/>
            <a:ext cx="7767161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Elastic resources that scale with demand — no hardware procurement delays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8419" y="4864656"/>
            <a:ext cx="393383" cy="39338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88419" y="5453896"/>
            <a:ext cx="2235160" cy="279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Cost Efficiency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688419" y="5827157"/>
            <a:ext cx="7767161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Pay-as-you-go models reduce capital expenditure significantly</a:t>
            </a:r>
            <a:endParaRPr lang="en-US" sz="15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8419" y="6405563"/>
            <a:ext cx="393383" cy="39338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8419" y="6994803"/>
            <a:ext cx="2235160" cy="279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Accessibility</a:t>
            </a:r>
            <a:endParaRPr lang="en-US" sz="1750" dirty="0"/>
          </a:p>
        </p:txBody>
      </p:sp>
      <p:sp>
        <p:nvSpPr>
          <p:cNvPr id="17" name="Text 10"/>
          <p:cNvSpPr/>
          <p:nvPr/>
        </p:nvSpPr>
        <p:spPr>
          <a:xfrm>
            <a:off x="688419" y="7368064"/>
            <a:ext cx="7767161" cy="265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Global reach — work from anywhere, on any device, at any time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809" y="647581"/>
            <a:ext cx="1470422" cy="372428"/>
          </a:xfrm>
          <a:prstGeom prst="roundRect">
            <a:avLst>
              <a:gd name="adj" fmla="val 6959"/>
            </a:avLst>
          </a:prstGeom>
          <a:solidFill>
            <a:srgbClr val="262626"/>
          </a:solidFill>
          <a:ln/>
        </p:spPr>
      </p:sp>
      <p:sp>
        <p:nvSpPr>
          <p:cNvPr id="3" name="Text 1"/>
          <p:cNvSpPr/>
          <p:nvPr/>
        </p:nvSpPr>
        <p:spPr>
          <a:xfrm>
            <a:off x="885349" y="712351"/>
            <a:ext cx="1211342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55809" y="1095494"/>
            <a:ext cx="9519166" cy="61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Growing Need for Cloud Security</a:t>
            </a:r>
            <a:endParaRPr lang="en-US" sz="3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809" y="2423398"/>
            <a:ext cx="8342709" cy="47274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633109" y="2204918"/>
            <a:ext cx="4248983" cy="1595557"/>
          </a:xfrm>
          <a:prstGeom prst="roundRect">
            <a:avLst>
              <a:gd name="adj" fmla="val 9169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02629" y="2204918"/>
            <a:ext cx="121920" cy="1595557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9970889" y="2451259"/>
            <a:ext cx="3334464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Accelerating Dependency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970889" y="2946916"/>
            <a:ext cx="3664863" cy="607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Over 90% of enterprises now rely on cloud services for critical operations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9633109" y="3989427"/>
            <a:ext cx="4248983" cy="1595557"/>
          </a:xfrm>
          <a:prstGeom prst="roundRect">
            <a:avLst>
              <a:gd name="adj" fmla="val 9169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02629" y="3989427"/>
            <a:ext cx="121920" cy="1595557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9970889" y="4235767"/>
            <a:ext cx="2487097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Exposure Risk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9970889" y="4731425"/>
            <a:ext cx="3664863" cy="607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Centralized storage creates high-value targets for attackers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9633109" y="5773936"/>
            <a:ext cx="4248983" cy="1595557"/>
          </a:xfrm>
          <a:prstGeom prst="roundRect">
            <a:avLst>
              <a:gd name="adj" fmla="val 9169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602629" y="5773936"/>
            <a:ext cx="121920" cy="1595557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9970889" y="6020276"/>
            <a:ext cx="2504718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Trust &amp; Compliance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9970889" y="6515933"/>
            <a:ext cx="3664863" cy="607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Regulatory pressure demands provable security and audit trails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44" y="720804"/>
            <a:ext cx="1863923" cy="435054"/>
          </a:xfrm>
          <a:prstGeom prst="roundRect">
            <a:avLst>
              <a:gd name="adj" fmla="val 6702"/>
            </a:avLst>
          </a:prstGeom>
          <a:solidFill>
            <a:srgbClr val="262626"/>
          </a:solidFill>
          <a:ln/>
        </p:spPr>
      </p:sp>
      <p:sp>
        <p:nvSpPr>
          <p:cNvPr id="3" name="Text 1"/>
          <p:cNvSpPr/>
          <p:nvPr/>
        </p:nvSpPr>
        <p:spPr>
          <a:xfrm>
            <a:off x="996077" y="793671"/>
            <a:ext cx="1572458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CORE CHALLENGES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50344" y="1251466"/>
            <a:ext cx="7528917" cy="69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Major Security Challenges</a:t>
            </a:r>
            <a:endParaRPr lang="en-US" sz="4300" dirty="0"/>
          </a:p>
        </p:txBody>
      </p:sp>
      <p:sp>
        <p:nvSpPr>
          <p:cNvPr id="5" name="Shape 3"/>
          <p:cNvSpPr/>
          <p:nvPr/>
        </p:nvSpPr>
        <p:spPr>
          <a:xfrm>
            <a:off x="850344" y="2300407"/>
            <a:ext cx="4150519" cy="2665452"/>
          </a:xfrm>
          <a:prstGeom prst="roundRect">
            <a:avLst>
              <a:gd name="adj" fmla="val 1367"/>
            </a:avLst>
          </a:prstGeom>
          <a:solidFill>
            <a:srgbClr val="303132"/>
          </a:solidFill>
          <a:ln/>
        </p:spPr>
      </p:sp>
      <p:sp>
        <p:nvSpPr>
          <p:cNvPr id="6" name="Shape 4"/>
          <p:cNvSpPr/>
          <p:nvPr/>
        </p:nvSpPr>
        <p:spPr>
          <a:xfrm>
            <a:off x="1093232" y="2543294"/>
            <a:ext cx="728901" cy="728901"/>
          </a:xfrm>
          <a:prstGeom prst="roundRect">
            <a:avLst>
              <a:gd name="adj" fmla="val 12543659"/>
            </a:avLst>
          </a:prstGeom>
          <a:solidFill>
            <a:srgbClr val="FFFF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3733" y="2743676"/>
            <a:ext cx="327898" cy="32789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3232" y="3511272"/>
            <a:ext cx="2761059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Breaches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093232" y="3999786"/>
            <a:ext cx="3664744" cy="723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Unauthorized access to sensitive data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5239941" y="2300407"/>
            <a:ext cx="4150519" cy="2665452"/>
          </a:xfrm>
          <a:prstGeom prst="roundRect">
            <a:avLst>
              <a:gd name="adj" fmla="val 1367"/>
            </a:avLst>
          </a:prstGeom>
          <a:solidFill>
            <a:srgbClr val="303132"/>
          </a:solidFill>
          <a:ln/>
        </p:spPr>
      </p:sp>
      <p:sp>
        <p:nvSpPr>
          <p:cNvPr id="11" name="Shape 8"/>
          <p:cNvSpPr/>
          <p:nvPr/>
        </p:nvSpPr>
        <p:spPr>
          <a:xfrm>
            <a:off x="5482828" y="2543294"/>
            <a:ext cx="728901" cy="728901"/>
          </a:xfrm>
          <a:prstGeom prst="roundRect">
            <a:avLst>
              <a:gd name="adj" fmla="val 12543659"/>
            </a:avLst>
          </a:prstGeom>
          <a:solidFill>
            <a:srgbClr val="FFFFF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83329" y="2743676"/>
            <a:ext cx="327898" cy="32789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2828" y="3511272"/>
            <a:ext cx="2761059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Loss</a:t>
            </a:r>
            <a:endParaRPr lang="en-US" sz="2150" dirty="0"/>
          </a:p>
        </p:txBody>
      </p:sp>
      <p:sp>
        <p:nvSpPr>
          <p:cNvPr id="14" name="Text 10"/>
          <p:cNvSpPr/>
          <p:nvPr/>
        </p:nvSpPr>
        <p:spPr>
          <a:xfrm>
            <a:off x="5482828" y="3999786"/>
            <a:ext cx="3664744" cy="36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Accidental deletion or destruction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9629537" y="2300407"/>
            <a:ext cx="4150519" cy="2665452"/>
          </a:xfrm>
          <a:prstGeom prst="roundRect">
            <a:avLst>
              <a:gd name="adj" fmla="val 1367"/>
            </a:avLst>
          </a:prstGeom>
          <a:solidFill>
            <a:srgbClr val="303132"/>
          </a:solidFill>
          <a:ln/>
        </p:spPr>
      </p:sp>
      <p:sp>
        <p:nvSpPr>
          <p:cNvPr id="16" name="Shape 12"/>
          <p:cNvSpPr/>
          <p:nvPr/>
        </p:nvSpPr>
        <p:spPr>
          <a:xfrm>
            <a:off x="9872424" y="2543294"/>
            <a:ext cx="728901" cy="728901"/>
          </a:xfrm>
          <a:prstGeom prst="roundRect">
            <a:avLst>
              <a:gd name="adj" fmla="val 12543659"/>
            </a:avLst>
          </a:prstGeom>
          <a:solidFill>
            <a:srgbClr val="FFFFFF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72926" y="2743676"/>
            <a:ext cx="327898" cy="32789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872424" y="3511272"/>
            <a:ext cx="2761059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Insecure APIs</a:t>
            </a:r>
            <a:endParaRPr lang="en-US" sz="2150" dirty="0"/>
          </a:p>
        </p:txBody>
      </p:sp>
      <p:sp>
        <p:nvSpPr>
          <p:cNvPr id="19" name="Text 14"/>
          <p:cNvSpPr/>
          <p:nvPr/>
        </p:nvSpPr>
        <p:spPr>
          <a:xfrm>
            <a:off x="9872424" y="3999786"/>
            <a:ext cx="3664744" cy="723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Weak interfaces expose backend systems</a:t>
            </a:r>
            <a:endParaRPr lang="en-US" sz="1900" dirty="0"/>
          </a:p>
        </p:txBody>
      </p:sp>
      <p:sp>
        <p:nvSpPr>
          <p:cNvPr id="20" name="Shape 15"/>
          <p:cNvSpPr/>
          <p:nvPr/>
        </p:nvSpPr>
        <p:spPr>
          <a:xfrm>
            <a:off x="850344" y="5204936"/>
            <a:ext cx="6345317" cy="2303859"/>
          </a:xfrm>
          <a:prstGeom prst="roundRect">
            <a:avLst>
              <a:gd name="adj" fmla="val 1582"/>
            </a:avLst>
          </a:prstGeom>
          <a:solidFill>
            <a:srgbClr val="303132"/>
          </a:solidFill>
          <a:ln/>
        </p:spPr>
      </p:sp>
      <p:sp>
        <p:nvSpPr>
          <p:cNvPr id="21" name="Shape 16"/>
          <p:cNvSpPr/>
          <p:nvPr/>
        </p:nvSpPr>
        <p:spPr>
          <a:xfrm>
            <a:off x="1093232" y="5447824"/>
            <a:ext cx="728901" cy="728901"/>
          </a:xfrm>
          <a:prstGeom prst="roundRect">
            <a:avLst>
              <a:gd name="adj" fmla="val 12543659"/>
            </a:avLst>
          </a:prstGeom>
          <a:solidFill>
            <a:srgbClr val="FFFFFF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93733" y="5648206"/>
            <a:ext cx="327898" cy="32789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93232" y="6415802"/>
            <a:ext cx="2761059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Account Hijacking</a:t>
            </a:r>
            <a:endParaRPr lang="en-US" sz="2150" dirty="0"/>
          </a:p>
        </p:txBody>
      </p:sp>
      <p:sp>
        <p:nvSpPr>
          <p:cNvPr id="24" name="Text 18"/>
          <p:cNvSpPr/>
          <p:nvPr/>
        </p:nvSpPr>
        <p:spPr>
          <a:xfrm>
            <a:off x="1093232" y="6904315"/>
            <a:ext cx="5859542" cy="36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Credential theft and privilege escalation</a:t>
            </a:r>
            <a:endParaRPr lang="en-US" sz="1900" dirty="0"/>
          </a:p>
        </p:txBody>
      </p:sp>
      <p:sp>
        <p:nvSpPr>
          <p:cNvPr id="25" name="Shape 19"/>
          <p:cNvSpPr/>
          <p:nvPr/>
        </p:nvSpPr>
        <p:spPr>
          <a:xfrm>
            <a:off x="7434739" y="5204936"/>
            <a:ext cx="6345317" cy="2303859"/>
          </a:xfrm>
          <a:prstGeom prst="roundRect">
            <a:avLst>
              <a:gd name="adj" fmla="val 1582"/>
            </a:avLst>
          </a:prstGeom>
          <a:solidFill>
            <a:srgbClr val="303132"/>
          </a:solidFill>
          <a:ln/>
        </p:spPr>
      </p:sp>
      <p:sp>
        <p:nvSpPr>
          <p:cNvPr id="26" name="Shape 20"/>
          <p:cNvSpPr/>
          <p:nvPr/>
        </p:nvSpPr>
        <p:spPr>
          <a:xfrm>
            <a:off x="7677626" y="5447824"/>
            <a:ext cx="728901" cy="728901"/>
          </a:xfrm>
          <a:prstGeom prst="roundRect">
            <a:avLst>
              <a:gd name="adj" fmla="val 12543659"/>
            </a:avLst>
          </a:prstGeom>
          <a:solidFill>
            <a:srgbClr val="FFFFFF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78128" y="5648206"/>
            <a:ext cx="327898" cy="32789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677626" y="6415802"/>
            <a:ext cx="2761059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Insider Threats</a:t>
            </a:r>
            <a:endParaRPr lang="en-US" sz="2150" dirty="0"/>
          </a:p>
        </p:txBody>
      </p:sp>
      <p:sp>
        <p:nvSpPr>
          <p:cNvPr id="29" name="Text 22"/>
          <p:cNvSpPr/>
          <p:nvPr/>
        </p:nvSpPr>
        <p:spPr>
          <a:xfrm>
            <a:off x="7677626" y="6904315"/>
            <a:ext cx="5859542" cy="36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Malicious or negligent internal actors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88031" y="541258"/>
            <a:ext cx="884753" cy="313492"/>
          </a:xfrm>
          <a:prstGeom prst="roundRect">
            <a:avLst>
              <a:gd name="adj" fmla="val 7234"/>
            </a:avLst>
          </a:prstGeom>
          <a:solidFill>
            <a:srgbClr val="262626"/>
          </a:solidFill>
          <a:ln/>
        </p:spPr>
      </p:sp>
      <p:sp>
        <p:nvSpPr>
          <p:cNvPr id="3" name="Text 1"/>
          <p:cNvSpPr/>
          <p:nvPr/>
        </p:nvSpPr>
        <p:spPr>
          <a:xfrm>
            <a:off x="1501378" y="597932"/>
            <a:ext cx="658058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DEEP DIVE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388031" y="912614"/>
            <a:ext cx="4537710" cy="536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Security Issues</a:t>
            </a:r>
            <a:endParaRPr lang="en-US" sz="3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031" y="1829038"/>
            <a:ext cx="5696545" cy="569654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8031" y="1829038"/>
            <a:ext cx="5696545" cy="56965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53206" y="3816429"/>
            <a:ext cx="2147411" cy="268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Vulnerabilities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7553206" y="4229576"/>
            <a:ext cx="5696545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4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Unauthorized access</a:t>
            </a: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via weak credentials or privilege escalation</a:t>
            </a:r>
            <a:endParaRPr lang="en-US" sz="14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4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Weak encryption</a:t>
            </a: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outdated algorithms or missing at-rest encryption</a:t>
            </a:r>
            <a:endParaRPr lang="en-US" sz="14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4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leakage</a:t>
            </a: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through misconfigured buckets or oversharing</a:t>
            </a:r>
            <a:endParaRPr lang="en-US" sz="14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4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Shared resource exploits</a:t>
            </a: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 multi-tenant environments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6409" y="662583"/>
            <a:ext cx="1827133" cy="398740"/>
          </a:xfrm>
          <a:prstGeom prst="roundRect">
            <a:avLst>
              <a:gd name="adj" fmla="val 6848"/>
            </a:avLst>
          </a:prstGeom>
          <a:solidFill>
            <a:srgbClr val="262626"/>
          </a:solidFill>
          <a:ln/>
        </p:spPr>
      </p:sp>
      <p:sp>
        <p:nvSpPr>
          <p:cNvPr id="4" name="Text 1"/>
          <p:cNvSpPr/>
          <p:nvPr/>
        </p:nvSpPr>
        <p:spPr>
          <a:xfrm>
            <a:off x="932855" y="730806"/>
            <a:ext cx="1554242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THREAT LANDSCAPE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6409" y="1145143"/>
            <a:ext cx="5171480" cy="646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Advanced Threats</a:t>
            </a:r>
            <a:endParaRPr lang="en-US" sz="4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09" y="2106216"/>
            <a:ext cx="1137642" cy="136517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43720" y="2333744"/>
            <a:ext cx="2585680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Identity Theft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2143720" y="2782848"/>
            <a:ext cx="6203871" cy="327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Stolen credentials used to impersonate legitimate users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409" y="3471386"/>
            <a:ext cx="1137642" cy="136517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43720" y="3698915"/>
            <a:ext cx="3256955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Malware &amp; Ransomware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2143720" y="4148018"/>
            <a:ext cx="6203871" cy="327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Encrypts or exfiltrates data for extortion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409" y="4836557"/>
            <a:ext cx="1137642" cy="136517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143720" y="5064085"/>
            <a:ext cx="2585680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Insider Misuse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2143720" y="5513189"/>
            <a:ext cx="6203871" cy="327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Privileged users abusing access rights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409" y="6201728"/>
            <a:ext cx="1137642" cy="136517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143720" y="6429256"/>
            <a:ext cx="2895124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Weak Authentication</a:t>
            </a:r>
            <a:endParaRPr lang="en-US" sz="2000" dirty="0"/>
          </a:p>
        </p:txBody>
      </p:sp>
      <p:sp>
        <p:nvSpPr>
          <p:cNvPr id="17" name="Text 10"/>
          <p:cNvSpPr/>
          <p:nvPr/>
        </p:nvSpPr>
        <p:spPr>
          <a:xfrm>
            <a:off x="2143720" y="6878360"/>
            <a:ext cx="6203871" cy="327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Password-only systems easily compromised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3798" y="1812250"/>
            <a:ext cx="2162532" cy="444103"/>
          </a:xfrm>
          <a:prstGeom prst="roundRect">
            <a:avLst>
              <a:gd name="adj" fmla="val 6670"/>
            </a:avLst>
          </a:prstGeom>
          <a:solidFill>
            <a:srgbClr val="262626"/>
          </a:solidFill>
          <a:ln/>
        </p:spPr>
      </p:sp>
      <p:sp>
        <p:nvSpPr>
          <p:cNvPr id="3" name="Text 1"/>
          <p:cNvSpPr/>
          <p:nvPr/>
        </p:nvSpPr>
        <p:spPr>
          <a:xfrm>
            <a:off x="1011793" y="1886188"/>
            <a:ext cx="1866543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DEFENSIVE MEASURES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63798" y="2355056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Security Solutions</a:t>
            </a:r>
            <a:endParaRPr lang="en-US" sz="4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98" y="3426500"/>
            <a:ext cx="1736646" cy="107322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3798" y="4808220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Encryption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63798" y="5306854"/>
            <a:ext cx="2994303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Encrypt data in transit and at rest using strong standards (AES-256, TLS 1.3)</a:t>
            </a:r>
            <a:endParaRPr lang="en-US" sz="19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6592" y="3426500"/>
            <a:ext cx="1736646" cy="107322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66592" y="4808220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MFA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4166592" y="5306854"/>
            <a:ext cx="2994303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Multi-Factor Authentication blocks 99% of automated credential attacks</a:t>
            </a:r>
            <a:endParaRPr lang="en-US" sz="19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9386" y="3426500"/>
            <a:ext cx="1736646" cy="107322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69386" y="4808220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Access Control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7469386" y="5306854"/>
            <a:ext cx="29943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Least-privilege policies and role-based access (RBAC)</a:t>
            </a:r>
            <a:endParaRPr lang="en-US" sz="19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72180" y="3426500"/>
            <a:ext cx="1736765" cy="10733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772180" y="4808339"/>
            <a:ext cx="2865715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Intrusion Detection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10772180" y="5306973"/>
            <a:ext cx="2994422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IDS/IPS monitors and blocks anomalous traffic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88031" y="541258"/>
            <a:ext cx="1514832" cy="313492"/>
          </a:xfrm>
          <a:prstGeom prst="roundRect">
            <a:avLst>
              <a:gd name="adj" fmla="val 7234"/>
            </a:avLst>
          </a:prstGeom>
          <a:solidFill>
            <a:srgbClr val="262626"/>
          </a:solidFill>
          <a:ln/>
        </p:spPr>
      </p:sp>
      <p:sp>
        <p:nvSpPr>
          <p:cNvPr id="3" name="Text 1"/>
          <p:cNvSpPr/>
          <p:nvPr/>
        </p:nvSpPr>
        <p:spPr>
          <a:xfrm>
            <a:off x="1501378" y="597932"/>
            <a:ext cx="1288137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NEXT-GEN SECURITY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1388031" y="912614"/>
            <a:ext cx="6519267" cy="536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Modern Security Approaches</a:t>
            </a:r>
            <a:endParaRPr lang="en-US" sz="3350" dirty="0"/>
          </a:p>
        </p:txBody>
      </p:sp>
      <p:sp>
        <p:nvSpPr>
          <p:cNvPr id="5" name="Text 3"/>
          <p:cNvSpPr/>
          <p:nvPr/>
        </p:nvSpPr>
        <p:spPr>
          <a:xfrm>
            <a:off x="1388031" y="3005495"/>
            <a:ext cx="2147411" cy="268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Zero Trust Model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388031" y="3418642"/>
            <a:ext cx="5696545" cy="500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Never trust, always verify — every access request is authenticated and authorized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388031" y="4128849"/>
            <a:ext cx="5696545" cy="14168"/>
          </a:xfrm>
          <a:prstGeom prst="rect">
            <a:avLst/>
          </a:prstGeom>
          <a:solidFill>
            <a:srgbClr val="E2E6E9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388031" y="4352925"/>
            <a:ext cx="2532936" cy="268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&amp; Machine Learning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388031" y="4766072"/>
            <a:ext cx="5696545" cy="250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Anomaly detection and behavioral analytics identify threats in real time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388031" y="5226129"/>
            <a:ext cx="5696545" cy="14168"/>
          </a:xfrm>
          <a:prstGeom prst="rect">
            <a:avLst/>
          </a:prstGeom>
          <a:solidFill>
            <a:srgbClr val="E2E6E9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388031" y="5450205"/>
            <a:ext cx="2278737" cy="268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Blockchain Integrity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388031" y="5863352"/>
            <a:ext cx="5696545" cy="500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Immutable ledgers ensure tamper-proof audit trails and data provenance</a:t>
            </a:r>
            <a:endParaRPr lang="en-US" sz="14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3206" y="1829038"/>
            <a:ext cx="5696545" cy="5696545"/>
          </a:xfrm>
          <a:prstGeom prst="rect">
            <a:avLst/>
          </a:prstGeom>
        </p:spPr>
      </p:pic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3206" y="1829038"/>
            <a:ext cx="5696545" cy="56965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7338" y="565428"/>
            <a:ext cx="1181814" cy="281345"/>
          </a:xfrm>
          <a:prstGeom prst="roundRect">
            <a:avLst>
              <a:gd name="adj" fmla="val 7402"/>
            </a:avLst>
          </a:prstGeom>
          <a:solidFill>
            <a:srgbClr val="262626"/>
          </a:solidFill>
          <a:ln/>
        </p:spPr>
      </p:sp>
      <p:sp>
        <p:nvSpPr>
          <p:cNvPr id="4" name="Text 1"/>
          <p:cNvSpPr/>
          <p:nvPr/>
        </p:nvSpPr>
        <p:spPr>
          <a:xfrm>
            <a:off x="711398" y="617458"/>
            <a:ext cx="973693" cy="177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BEST PRACTICES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07338" y="895469"/>
            <a:ext cx="7054334" cy="493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Building a Resilient Cloud Posture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607338" y="1831777"/>
            <a:ext cx="7929324" cy="1171456"/>
          </a:xfrm>
          <a:prstGeom prst="roundRect">
            <a:avLst>
              <a:gd name="adj" fmla="val 9367"/>
            </a:avLst>
          </a:prstGeom>
          <a:solidFill>
            <a:srgbClr val="111213"/>
          </a:solidFill>
          <a:ln/>
        </p:spPr>
      </p:sp>
      <p:sp>
        <p:nvSpPr>
          <p:cNvPr id="7" name="Shape 4"/>
          <p:cNvSpPr/>
          <p:nvPr/>
        </p:nvSpPr>
        <p:spPr>
          <a:xfrm>
            <a:off x="607338" y="1808917"/>
            <a:ext cx="7929324" cy="91440"/>
          </a:xfrm>
          <a:prstGeom prst="roundRect">
            <a:avLst>
              <a:gd name="adj" fmla="val 28470"/>
            </a:avLst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4311670" y="1571506"/>
            <a:ext cx="520660" cy="520660"/>
          </a:xfrm>
          <a:prstGeom prst="roundRect">
            <a:avLst>
              <a:gd name="adj" fmla="val 175623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4467880" y="1701641"/>
            <a:ext cx="208240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3672" y="2265640"/>
            <a:ext cx="1972151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Regular Backups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03672" y="2585204"/>
            <a:ext cx="7536656" cy="22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Automated, encrypted, off-site backups with tested recovery procedures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07338" y="3385423"/>
            <a:ext cx="7929324" cy="1171456"/>
          </a:xfrm>
          <a:prstGeom prst="roundRect">
            <a:avLst>
              <a:gd name="adj" fmla="val 9367"/>
            </a:avLst>
          </a:prstGeom>
          <a:solidFill>
            <a:srgbClr val="111213"/>
          </a:solidFill>
          <a:ln/>
        </p:spPr>
      </p:sp>
      <p:sp>
        <p:nvSpPr>
          <p:cNvPr id="13" name="Shape 10"/>
          <p:cNvSpPr/>
          <p:nvPr/>
        </p:nvSpPr>
        <p:spPr>
          <a:xfrm>
            <a:off x="607338" y="3362563"/>
            <a:ext cx="7929324" cy="91440"/>
          </a:xfrm>
          <a:prstGeom prst="roundRect">
            <a:avLst>
              <a:gd name="adj" fmla="val 28470"/>
            </a:avLst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4311670" y="3125153"/>
            <a:ext cx="520660" cy="520660"/>
          </a:xfrm>
          <a:prstGeom prst="roundRect">
            <a:avLst>
              <a:gd name="adj" fmla="val 175623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4467880" y="3255288"/>
            <a:ext cx="208240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03672" y="3819287"/>
            <a:ext cx="2256234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Monitoring &amp; Logging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803672" y="4138851"/>
            <a:ext cx="7536656" cy="22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Centralized SIEM with full visibility across all cloud assets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07338" y="4939070"/>
            <a:ext cx="7929324" cy="1171456"/>
          </a:xfrm>
          <a:prstGeom prst="roundRect">
            <a:avLst>
              <a:gd name="adj" fmla="val 9367"/>
            </a:avLst>
          </a:prstGeom>
          <a:solidFill>
            <a:srgbClr val="111213"/>
          </a:solidFill>
          <a:ln/>
        </p:spPr>
      </p:sp>
      <p:sp>
        <p:nvSpPr>
          <p:cNvPr id="19" name="Shape 16"/>
          <p:cNvSpPr/>
          <p:nvPr/>
        </p:nvSpPr>
        <p:spPr>
          <a:xfrm>
            <a:off x="607338" y="4916210"/>
            <a:ext cx="7929324" cy="91440"/>
          </a:xfrm>
          <a:prstGeom prst="roundRect">
            <a:avLst>
              <a:gd name="adj" fmla="val 28470"/>
            </a:avLst>
          </a:pr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4311670" y="4678799"/>
            <a:ext cx="520660" cy="520660"/>
          </a:xfrm>
          <a:prstGeom prst="roundRect">
            <a:avLst>
              <a:gd name="adj" fmla="val 175623"/>
            </a:avLst>
          </a:pr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4467880" y="4808934"/>
            <a:ext cx="208240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03672" y="5372933"/>
            <a:ext cx="1972151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User Training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803672" y="5692497"/>
            <a:ext cx="7536656" cy="22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Security awareness programs reduce human error — the #1 attack vector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607338" y="6492716"/>
            <a:ext cx="7929324" cy="1171456"/>
          </a:xfrm>
          <a:prstGeom prst="roundRect">
            <a:avLst>
              <a:gd name="adj" fmla="val 9367"/>
            </a:avLst>
          </a:prstGeom>
          <a:solidFill>
            <a:srgbClr val="111213"/>
          </a:solidFill>
          <a:ln/>
        </p:spPr>
      </p:sp>
      <p:sp>
        <p:nvSpPr>
          <p:cNvPr id="25" name="Shape 22"/>
          <p:cNvSpPr/>
          <p:nvPr/>
        </p:nvSpPr>
        <p:spPr>
          <a:xfrm>
            <a:off x="607338" y="6469856"/>
            <a:ext cx="7929324" cy="91440"/>
          </a:xfrm>
          <a:prstGeom prst="roundRect">
            <a:avLst>
              <a:gd name="adj" fmla="val 28470"/>
            </a:avLst>
          </a:prstGeom>
          <a:solidFill>
            <a:srgbClr val="FFFFFF"/>
          </a:solidFill>
          <a:ln/>
        </p:spPr>
      </p:sp>
      <p:sp>
        <p:nvSpPr>
          <p:cNvPr id="26" name="Shape 23"/>
          <p:cNvSpPr/>
          <p:nvPr/>
        </p:nvSpPr>
        <p:spPr>
          <a:xfrm>
            <a:off x="4311670" y="6232446"/>
            <a:ext cx="520660" cy="520660"/>
          </a:xfrm>
          <a:prstGeom prst="roundRect">
            <a:avLst>
              <a:gd name="adj" fmla="val 175623"/>
            </a:avLst>
          </a:pr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4467880" y="6362581"/>
            <a:ext cx="208240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03672" y="6926580"/>
            <a:ext cx="1972151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Compliance</a:t>
            </a:r>
            <a:endParaRPr lang="en-US" sz="1550" dirty="0"/>
          </a:p>
        </p:txBody>
      </p:sp>
      <p:sp>
        <p:nvSpPr>
          <p:cNvPr id="29" name="Text 26"/>
          <p:cNvSpPr/>
          <p:nvPr/>
        </p:nvSpPr>
        <p:spPr>
          <a:xfrm>
            <a:off x="803672" y="7246144"/>
            <a:ext cx="7536656" cy="22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Align with GDPR, ISO 27001, SOC 2, and industry-specific regulations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13836" y="506373"/>
            <a:ext cx="944880" cy="265509"/>
          </a:xfrm>
          <a:prstGeom prst="roundRect">
            <a:avLst>
              <a:gd name="adj" fmla="val 7495"/>
            </a:avLst>
          </a:prstGeom>
          <a:solidFill>
            <a:srgbClr val="262626"/>
          </a:solidFill>
          <a:ln/>
        </p:spPr>
      </p:sp>
      <p:sp>
        <p:nvSpPr>
          <p:cNvPr id="3" name="Text 1"/>
          <p:cNvSpPr/>
          <p:nvPr/>
        </p:nvSpPr>
        <p:spPr>
          <a:xfrm>
            <a:off x="2213253" y="556022"/>
            <a:ext cx="746046" cy="166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113836" y="816412"/>
            <a:ext cx="5632966" cy="471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Future of Cloud Security</a:t>
            </a:r>
            <a:endParaRPr lang="en-US" sz="2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3836" y="1454587"/>
            <a:ext cx="10402610" cy="47607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33795" y="2108956"/>
            <a:ext cx="2091826" cy="261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Future Outlook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733795" y="2452214"/>
            <a:ext cx="2536400" cy="384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 automation, Zero Trust, quantum-safe encryption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359827" y="3446830"/>
            <a:ext cx="2331851" cy="522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Shared Responsibility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359827" y="4051526"/>
            <a:ext cx="2331851" cy="57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Provider secures infrastructure; customer secures data and access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733795" y="4481716"/>
            <a:ext cx="2091826" cy="261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Layered Security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733795" y="4824974"/>
            <a:ext cx="2536400" cy="384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Defense in depth across people, process, technology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113836" y="6340554"/>
            <a:ext cx="10402610" cy="415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Cloud security is not a one-time configuration — it is a continuous, evolving discipline requiring layered defenses, clear accountability, and proactive investment in modern tooling and practices.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113836" y="6881574"/>
            <a:ext cx="10402610" cy="841653"/>
          </a:xfrm>
          <a:prstGeom prst="roundRect">
            <a:avLst>
              <a:gd name="adj" fmla="val 2956"/>
            </a:avLst>
          </a:prstGeom>
          <a:solidFill>
            <a:srgbClr val="303132"/>
          </a:solidFill>
          <a:ln/>
        </p:spPr>
      </p:sp>
      <p:sp>
        <p:nvSpPr>
          <p:cNvPr id="14" name="Shape 11"/>
          <p:cNvSpPr/>
          <p:nvPr/>
        </p:nvSpPr>
        <p:spPr>
          <a:xfrm>
            <a:off x="2113836" y="6881574"/>
            <a:ext cx="3467457" cy="841653"/>
          </a:xfrm>
          <a:prstGeom prst="roundRect">
            <a:avLst>
              <a:gd name="adj" fmla="val 2956"/>
            </a:avLst>
          </a:prstGeom>
          <a:solidFill>
            <a:srgbClr val="303132"/>
          </a:solidFill>
          <a:ln/>
        </p:spPr>
      </p:sp>
      <p:sp>
        <p:nvSpPr>
          <p:cNvPr id="15" name="Text 12"/>
          <p:cNvSpPr/>
          <p:nvPr/>
        </p:nvSpPr>
        <p:spPr>
          <a:xfrm>
            <a:off x="2279571" y="7047309"/>
            <a:ext cx="1884521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Layered Defense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2279571" y="7349609"/>
            <a:ext cx="3135987" cy="20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single control is sufficient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581293" y="6881574"/>
            <a:ext cx="3467576" cy="841653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18" name="Shape 15"/>
          <p:cNvSpPr/>
          <p:nvPr/>
        </p:nvSpPr>
        <p:spPr>
          <a:xfrm>
            <a:off x="5581293" y="6881574"/>
            <a:ext cx="22860" cy="841653"/>
          </a:xfrm>
          <a:prstGeom prst="roundRect">
            <a:avLst>
              <a:gd name="adj" fmla="val 108819"/>
            </a:avLst>
          </a:prstGeom>
          <a:solidFill>
            <a:srgbClr val="494A4B"/>
          </a:solidFill>
          <a:ln/>
        </p:spPr>
      </p:sp>
      <p:sp>
        <p:nvSpPr>
          <p:cNvPr id="19" name="Text 16"/>
          <p:cNvSpPr/>
          <p:nvPr/>
        </p:nvSpPr>
        <p:spPr>
          <a:xfrm>
            <a:off x="5747028" y="7047309"/>
            <a:ext cx="2136219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Shared Responsibility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5747028" y="7349609"/>
            <a:ext cx="3136106" cy="20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Provider + customer both accountable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9048869" y="6881574"/>
            <a:ext cx="3467457" cy="841653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22" name="Shape 19"/>
          <p:cNvSpPr/>
          <p:nvPr/>
        </p:nvSpPr>
        <p:spPr>
          <a:xfrm>
            <a:off x="9048869" y="6881574"/>
            <a:ext cx="22860" cy="841653"/>
          </a:xfrm>
          <a:prstGeom prst="roundRect">
            <a:avLst>
              <a:gd name="adj" fmla="val 108819"/>
            </a:avLst>
          </a:prstGeom>
          <a:solidFill>
            <a:srgbClr val="494A4B"/>
          </a:solidFill>
          <a:ln/>
        </p:spPr>
      </p:sp>
      <p:sp>
        <p:nvSpPr>
          <p:cNvPr id="23" name="Text 20"/>
          <p:cNvSpPr/>
          <p:nvPr/>
        </p:nvSpPr>
        <p:spPr>
          <a:xfrm>
            <a:off x="9214604" y="7047309"/>
            <a:ext cx="2127528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Continuous Evolution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9214604" y="7349609"/>
            <a:ext cx="3135987" cy="20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Adapt to emerging threats proactively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487</Words>
  <Application>Microsoft Office PowerPoint</Application>
  <PresentationFormat>Custom</PresentationFormat>
  <Paragraphs>108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Montserrat Bold</vt:lpstr>
      <vt:lpstr>Calibri</vt:lpstr>
      <vt:lpstr>Source Sans 3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govind sharma</dc:creator>
  <cp:lastModifiedBy>Govind Sharma</cp:lastModifiedBy>
  <cp:revision>3</cp:revision>
  <dcterms:created xsi:type="dcterms:W3CDTF">2026-04-24T17:14:22Z</dcterms:created>
  <dcterms:modified xsi:type="dcterms:W3CDTF">2026-04-25T04:40:59Z</dcterms:modified>
</cp:coreProperties>
</file>